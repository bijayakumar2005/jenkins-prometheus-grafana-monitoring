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Success rate</c:v>
                </c:pt>
                <c:pt idx="1">
                  <c:v>Executor availability</c:v>
                </c:pt>
                <c:pt idx="2">
                  <c:v>Queue size</c:v>
                </c:pt>
                <c:pt idx="3">
                  <c:v>Memory usage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10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41-4603-9B6A-90AB36065A88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62" b="0" i="0" u="none" strike="noStrike" baseline="0" dirty="0"/>
              <a:t>Jenkins Health &amp; Security Score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3"/>
                <c:pt idx="0">
                  <c:v>Health</c:v>
                </c:pt>
                <c:pt idx="1">
                  <c:v>Security</c:v>
                </c:pt>
                <c:pt idx="2">
                  <c:v>Final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60</c:v>
                </c:pt>
                <c:pt idx="2">
                  <c:v>51.6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D6-4D98-9215-A3ECB76E06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3"/>
                <c:pt idx="0">
                  <c:v>Health</c:v>
                </c:pt>
                <c:pt idx="1">
                  <c:v>Security</c:v>
                </c:pt>
                <c:pt idx="2">
                  <c:v>Final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5AD6-4D98-9215-A3ECB76E06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3"/>
                <c:pt idx="0">
                  <c:v>Health</c:v>
                </c:pt>
                <c:pt idx="1">
                  <c:v>Security</c:v>
                </c:pt>
                <c:pt idx="2">
                  <c:v>Final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5AD6-4D98-9215-A3ECB76E06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70278031"/>
        <c:axId val="570278511"/>
        <c:axId val="563382847"/>
      </c:bar3DChart>
      <c:catAx>
        <c:axId val="570278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0278511"/>
        <c:crosses val="autoZero"/>
        <c:auto val="1"/>
        <c:lblAlgn val="ctr"/>
        <c:lblOffset val="100"/>
        <c:noMultiLvlLbl val="0"/>
      </c:catAx>
      <c:valAx>
        <c:axId val="570278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0278031"/>
        <c:crosses val="autoZero"/>
        <c:crossBetween val="between"/>
      </c:valAx>
      <c:serAx>
        <c:axId val="563382847"/>
        <c:scaling>
          <c:orientation val="minMax"/>
        </c:scaling>
        <c:delete val="1"/>
        <c:axPos val="b"/>
        <c:majorTickMark val="out"/>
        <c:minorTickMark val="none"/>
        <c:tickLblPos val="nextTo"/>
        <c:crossAx val="570278511"/>
      </c:ser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5E39A9-F965-483E-B8A4-AE12388590B9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F66D812-0057-40D7-973F-F044A84500D0}">
      <dgm:prSet phldrT="[Text]" phldr="0"/>
      <dgm:spPr/>
      <dgm:t>
        <a:bodyPr/>
        <a:lstStyle/>
        <a:p>
          <a:r>
            <a:rPr lang="en-IN" dirty="0"/>
            <a:t> </a:t>
          </a:r>
        </a:p>
      </dgm:t>
    </dgm:pt>
    <dgm:pt modelId="{F8FD517E-7310-43DE-BD37-1B3BEFA911AB}" type="parTrans" cxnId="{49948C77-4480-4615-9DB0-B9144FF5938C}">
      <dgm:prSet/>
      <dgm:spPr/>
      <dgm:t>
        <a:bodyPr/>
        <a:lstStyle/>
        <a:p>
          <a:endParaRPr lang="en-IN"/>
        </a:p>
      </dgm:t>
    </dgm:pt>
    <dgm:pt modelId="{99DCAF3E-B3C3-4EFC-8661-9B31CB780FA4}" type="sibTrans" cxnId="{49948C77-4480-4615-9DB0-B9144FF5938C}">
      <dgm:prSet/>
      <dgm:spPr/>
      <dgm:t>
        <a:bodyPr/>
        <a:lstStyle/>
        <a:p>
          <a:endParaRPr lang="en-IN"/>
        </a:p>
      </dgm:t>
    </dgm:pt>
    <dgm:pt modelId="{527D28A9-416E-4CA3-84E8-15C97784E8FC}">
      <dgm:prSet phldrT="[Text]"/>
      <dgm:spPr/>
      <dgm:t>
        <a:bodyPr/>
        <a:lstStyle/>
        <a:p>
          <a:pPr>
            <a:buNone/>
          </a:pPr>
          <a:r>
            <a:rPr lang="en-IN" b="1" dirty="0"/>
            <a:t>Jenkins</a:t>
          </a:r>
          <a:endParaRPr lang="en-IN" dirty="0"/>
        </a:p>
      </dgm:t>
    </dgm:pt>
    <dgm:pt modelId="{C9C7F967-1325-46B3-AA8B-CA1B89DE493C}" type="parTrans" cxnId="{0B24D0E8-7286-429D-AA0E-CE551024810F}">
      <dgm:prSet/>
      <dgm:spPr/>
      <dgm:t>
        <a:bodyPr/>
        <a:lstStyle/>
        <a:p>
          <a:endParaRPr lang="en-IN"/>
        </a:p>
      </dgm:t>
    </dgm:pt>
    <dgm:pt modelId="{A6915B9B-7E02-4954-8EE2-C3E404A53C44}" type="sibTrans" cxnId="{0B24D0E8-7286-429D-AA0E-CE551024810F}">
      <dgm:prSet/>
      <dgm:spPr/>
      <dgm:t>
        <a:bodyPr/>
        <a:lstStyle/>
        <a:p>
          <a:endParaRPr lang="en-IN"/>
        </a:p>
      </dgm:t>
    </dgm:pt>
    <dgm:pt modelId="{F00F1D47-C7FD-482C-AA02-ABE9D7BE4A41}">
      <dgm:prSet phldrT="[Text]"/>
      <dgm:spPr/>
      <dgm:t>
        <a:bodyPr/>
        <a:lstStyle/>
        <a:p>
          <a:pPr>
            <a:buNone/>
          </a:pPr>
          <a:r>
            <a:rPr lang="pt-BR" dirty="0"/>
            <a:t>Exposes metrics via Prometheus plugin</a:t>
          </a:r>
          <a:endParaRPr lang="en-IN" dirty="0"/>
        </a:p>
      </dgm:t>
    </dgm:pt>
    <dgm:pt modelId="{02CE1687-7F44-47E7-956F-4AEAD8D452F1}" type="parTrans" cxnId="{4A563125-87DB-4B14-A190-7CA996738B4A}">
      <dgm:prSet/>
      <dgm:spPr/>
      <dgm:t>
        <a:bodyPr/>
        <a:lstStyle/>
        <a:p>
          <a:endParaRPr lang="en-IN"/>
        </a:p>
      </dgm:t>
    </dgm:pt>
    <dgm:pt modelId="{4B953CD0-A8DD-4CC0-A188-4AE36CB50290}" type="sibTrans" cxnId="{4A563125-87DB-4B14-A190-7CA996738B4A}">
      <dgm:prSet/>
      <dgm:spPr/>
      <dgm:t>
        <a:bodyPr/>
        <a:lstStyle/>
        <a:p>
          <a:endParaRPr lang="en-IN"/>
        </a:p>
      </dgm:t>
    </dgm:pt>
    <dgm:pt modelId="{2766F933-195E-4CB6-AB85-0D0A4981BDE5}">
      <dgm:prSet phldrT="[Text]" phldr="0"/>
      <dgm:spPr/>
      <dgm:t>
        <a:bodyPr/>
        <a:lstStyle/>
        <a:p>
          <a:r>
            <a:rPr lang="en-IN" dirty="0"/>
            <a:t>  </a:t>
          </a:r>
        </a:p>
      </dgm:t>
    </dgm:pt>
    <dgm:pt modelId="{F01AAD9A-E179-4E13-9C26-E6958315CACF}" type="parTrans" cxnId="{45855431-D2CA-4B2C-BB5D-496FD7FEFB56}">
      <dgm:prSet/>
      <dgm:spPr/>
      <dgm:t>
        <a:bodyPr/>
        <a:lstStyle/>
        <a:p>
          <a:endParaRPr lang="en-IN"/>
        </a:p>
      </dgm:t>
    </dgm:pt>
    <dgm:pt modelId="{3F4B62C6-1217-4055-941C-AA3A2E6F9C62}" type="sibTrans" cxnId="{45855431-D2CA-4B2C-BB5D-496FD7FEFB56}">
      <dgm:prSet/>
      <dgm:spPr/>
      <dgm:t>
        <a:bodyPr/>
        <a:lstStyle/>
        <a:p>
          <a:endParaRPr lang="en-IN"/>
        </a:p>
      </dgm:t>
    </dgm:pt>
    <dgm:pt modelId="{EAFA5970-9D88-4A3C-9F4F-DB8261CC70E6}">
      <dgm:prSet phldrT="[Text]"/>
      <dgm:spPr/>
      <dgm:t>
        <a:bodyPr/>
        <a:lstStyle/>
        <a:p>
          <a:pPr>
            <a:buNone/>
          </a:pPr>
          <a:r>
            <a:rPr lang="en-IN" b="1" dirty="0"/>
            <a:t>Prometheus</a:t>
          </a:r>
          <a:endParaRPr lang="en-IN" dirty="0"/>
        </a:p>
      </dgm:t>
    </dgm:pt>
    <dgm:pt modelId="{9C7BC375-6F15-4172-8657-018B69707E9B}" type="parTrans" cxnId="{B54FE4CF-5900-4C63-A911-CBD76FD1E2ED}">
      <dgm:prSet/>
      <dgm:spPr/>
      <dgm:t>
        <a:bodyPr/>
        <a:lstStyle/>
        <a:p>
          <a:endParaRPr lang="en-IN"/>
        </a:p>
      </dgm:t>
    </dgm:pt>
    <dgm:pt modelId="{C268DD0F-A12B-4C64-81C6-6664F9EB61B1}" type="sibTrans" cxnId="{B54FE4CF-5900-4C63-A911-CBD76FD1E2ED}">
      <dgm:prSet/>
      <dgm:spPr/>
      <dgm:t>
        <a:bodyPr/>
        <a:lstStyle/>
        <a:p>
          <a:endParaRPr lang="en-IN"/>
        </a:p>
      </dgm:t>
    </dgm:pt>
    <dgm:pt modelId="{F557C073-2B9B-4B83-8D74-EEDE082AAFA8}">
      <dgm:prSet phldrT="[Text]"/>
      <dgm:spPr/>
      <dgm:t>
        <a:bodyPr/>
        <a:lstStyle/>
        <a:p>
          <a:pPr>
            <a:buNone/>
          </a:pPr>
          <a:r>
            <a:rPr lang="en-US" dirty="0"/>
            <a:t>Scrapes and stores time-series data</a:t>
          </a:r>
          <a:endParaRPr lang="en-IN" dirty="0"/>
        </a:p>
      </dgm:t>
    </dgm:pt>
    <dgm:pt modelId="{E89C9A18-0728-449A-8561-FAF7F162C047}" type="parTrans" cxnId="{5556F92C-783F-403A-B7E5-2FEF2F46E2B2}">
      <dgm:prSet/>
      <dgm:spPr/>
      <dgm:t>
        <a:bodyPr/>
        <a:lstStyle/>
        <a:p>
          <a:endParaRPr lang="en-IN"/>
        </a:p>
      </dgm:t>
    </dgm:pt>
    <dgm:pt modelId="{6E2901E6-E84E-4B65-8C42-F25D92773D8E}" type="sibTrans" cxnId="{5556F92C-783F-403A-B7E5-2FEF2F46E2B2}">
      <dgm:prSet/>
      <dgm:spPr/>
      <dgm:t>
        <a:bodyPr/>
        <a:lstStyle/>
        <a:p>
          <a:endParaRPr lang="en-IN"/>
        </a:p>
      </dgm:t>
    </dgm:pt>
    <dgm:pt modelId="{3D0A8EF0-BB78-406E-AE0C-EF7B8255E0B2}">
      <dgm:prSet phldrT="[Text]"/>
      <dgm:spPr/>
      <dgm:t>
        <a:bodyPr/>
        <a:lstStyle/>
        <a:p>
          <a:pPr>
            <a:buNone/>
          </a:pPr>
          <a:r>
            <a:rPr lang="en-IN" b="1" dirty="0"/>
            <a:t>Grafana</a:t>
          </a:r>
          <a:endParaRPr lang="en-IN" dirty="0"/>
        </a:p>
      </dgm:t>
    </dgm:pt>
    <dgm:pt modelId="{B55655B6-0A28-4F58-9786-9B44DEA4EDD5}" type="parTrans" cxnId="{5CF0A4BB-1BBB-4D13-96FB-5C2EE7331738}">
      <dgm:prSet/>
      <dgm:spPr/>
      <dgm:t>
        <a:bodyPr/>
        <a:lstStyle/>
        <a:p>
          <a:endParaRPr lang="en-IN"/>
        </a:p>
      </dgm:t>
    </dgm:pt>
    <dgm:pt modelId="{317D078B-5A85-4D66-B6C3-95DE311188CB}" type="sibTrans" cxnId="{5CF0A4BB-1BBB-4D13-96FB-5C2EE7331738}">
      <dgm:prSet/>
      <dgm:spPr/>
      <dgm:t>
        <a:bodyPr/>
        <a:lstStyle/>
        <a:p>
          <a:endParaRPr lang="en-IN"/>
        </a:p>
      </dgm:t>
    </dgm:pt>
    <dgm:pt modelId="{A841EE86-DCC5-4C06-9C1A-3079D9452554}">
      <dgm:prSet/>
      <dgm:spPr/>
      <dgm:t>
        <a:bodyPr/>
        <a:lstStyle/>
        <a:p>
          <a:endParaRPr lang="en-IN" dirty="0"/>
        </a:p>
      </dgm:t>
    </dgm:pt>
    <dgm:pt modelId="{FCD2589A-E8BC-471C-99E3-5526D8060570}" type="parTrans" cxnId="{785F4A2B-6515-4A98-81BC-C1122872B6D4}">
      <dgm:prSet/>
      <dgm:spPr/>
      <dgm:t>
        <a:bodyPr/>
        <a:lstStyle/>
        <a:p>
          <a:endParaRPr lang="en-IN"/>
        </a:p>
      </dgm:t>
    </dgm:pt>
    <dgm:pt modelId="{579E278E-A480-4763-9FA6-9E8D82F7C557}" type="sibTrans" cxnId="{785F4A2B-6515-4A98-81BC-C1122872B6D4}">
      <dgm:prSet/>
      <dgm:spPr/>
      <dgm:t>
        <a:bodyPr/>
        <a:lstStyle/>
        <a:p>
          <a:endParaRPr lang="en-IN"/>
        </a:p>
      </dgm:t>
    </dgm:pt>
    <dgm:pt modelId="{773D7741-D2FC-4F9A-AF4E-9F23AB4CB6A2}">
      <dgm:prSet/>
      <dgm:spPr/>
      <dgm:t>
        <a:bodyPr/>
        <a:lstStyle/>
        <a:p>
          <a:pPr>
            <a:buNone/>
          </a:pPr>
          <a:r>
            <a:rPr lang="en-IN" dirty="0"/>
            <a:t>Visualises metrics in real-time</a:t>
          </a:r>
        </a:p>
      </dgm:t>
    </dgm:pt>
    <dgm:pt modelId="{0F066D58-C71F-418C-9AEC-F32C09411642}" type="parTrans" cxnId="{0B3F4FDF-5BD4-42B3-AFE4-F077950CEB7C}">
      <dgm:prSet/>
      <dgm:spPr/>
      <dgm:t>
        <a:bodyPr/>
        <a:lstStyle/>
        <a:p>
          <a:endParaRPr lang="en-IN"/>
        </a:p>
      </dgm:t>
    </dgm:pt>
    <dgm:pt modelId="{D7FA9DC6-70D4-4968-B5C8-91565FD36054}" type="sibTrans" cxnId="{0B3F4FDF-5BD4-42B3-AFE4-F077950CEB7C}">
      <dgm:prSet/>
      <dgm:spPr/>
      <dgm:t>
        <a:bodyPr/>
        <a:lstStyle/>
        <a:p>
          <a:endParaRPr lang="en-IN"/>
        </a:p>
      </dgm:t>
    </dgm:pt>
    <dgm:pt modelId="{F178F570-266D-4790-BFB5-C9F89260F9B1}">
      <dgm:prSet/>
      <dgm:spPr/>
      <dgm:t>
        <a:bodyPr/>
        <a:lstStyle/>
        <a:p>
          <a:pPr>
            <a:buNone/>
          </a:pPr>
          <a:r>
            <a:rPr lang="en-IN" b="1"/>
            <a:t>Python Script</a:t>
          </a:r>
          <a:endParaRPr lang="en-IN"/>
        </a:p>
      </dgm:t>
    </dgm:pt>
    <dgm:pt modelId="{6CF4BFDA-37B0-4D35-98F3-F24D11B82C30}" type="parTrans" cxnId="{4CE412BB-0F27-49BD-ABAE-7FE5AA23315E}">
      <dgm:prSet/>
      <dgm:spPr/>
      <dgm:t>
        <a:bodyPr/>
        <a:lstStyle/>
        <a:p>
          <a:endParaRPr lang="en-IN"/>
        </a:p>
      </dgm:t>
    </dgm:pt>
    <dgm:pt modelId="{B3E91A38-1CEE-4A6C-95C8-F67AC41FF0B0}" type="sibTrans" cxnId="{4CE412BB-0F27-49BD-ABAE-7FE5AA23315E}">
      <dgm:prSet/>
      <dgm:spPr/>
      <dgm:t>
        <a:bodyPr/>
        <a:lstStyle/>
        <a:p>
          <a:endParaRPr lang="en-IN"/>
        </a:p>
      </dgm:t>
    </dgm:pt>
    <dgm:pt modelId="{B744171A-0F46-4B7E-9200-27D26DF7D785}">
      <dgm:prSet/>
      <dgm:spPr/>
      <dgm:t>
        <a:bodyPr/>
        <a:lstStyle/>
        <a:p>
          <a:pPr>
            <a:buNone/>
          </a:pPr>
          <a:r>
            <a:rPr lang="en-IN"/>
            <a:t>Consumes API, calculates scores, exports results</a:t>
          </a:r>
        </a:p>
      </dgm:t>
    </dgm:pt>
    <dgm:pt modelId="{657DD9FD-2658-4FCD-8CF5-154B7B91C02C}" type="parTrans" cxnId="{96888A5A-83D1-4339-8DA1-DC2B7BFE0CDF}">
      <dgm:prSet/>
      <dgm:spPr/>
      <dgm:t>
        <a:bodyPr/>
        <a:lstStyle/>
        <a:p>
          <a:endParaRPr lang="en-IN"/>
        </a:p>
      </dgm:t>
    </dgm:pt>
    <dgm:pt modelId="{77377BFA-8766-4C64-A658-36A8450038F4}" type="sibTrans" cxnId="{96888A5A-83D1-4339-8DA1-DC2B7BFE0CDF}">
      <dgm:prSet/>
      <dgm:spPr/>
      <dgm:t>
        <a:bodyPr/>
        <a:lstStyle/>
        <a:p>
          <a:endParaRPr lang="en-IN"/>
        </a:p>
      </dgm:t>
    </dgm:pt>
    <dgm:pt modelId="{6C28A34B-B7D0-4C96-A491-A0F6208BBBFE}">
      <dgm:prSet phldrT="[Text]" phldr="0"/>
      <dgm:spPr/>
      <dgm:t>
        <a:bodyPr/>
        <a:lstStyle/>
        <a:p>
          <a:r>
            <a:rPr lang="en-IN" dirty="0"/>
            <a:t> </a:t>
          </a:r>
        </a:p>
      </dgm:t>
    </dgm:pt>
    <dgm:pt modelId="{E2C93A7D-2E1E-42EE-B3D4-852DBA3A9870}" type="sibTrans" cxnId="{4624A41E-6CCB-41F9-B444-959D2E0EAD3B}">
      <dgm:prSet/>
      <dgm:spPr/>
      <dgm:t>
        <a:bodyPr/>
        <a:lstStyle/>
        <a:p>
          <a:endParaRPr lang="en-IN"/>
        </a:p>
      </dgm:t>
    </dgm:pt>
    <dgm:pt modelId="{60683765-981B-4927-BF06-455B6C0C6415}" type="parTrans" cxnId="{4624A41E-6CCB-41F9-B444-959D2E0EAD3B}">
      <dgm:prSet/>
      <dgm:spPr/>
      <dgm:t>
        <a:bodyPr/>
        <a:lstStyle/>
        <a:p>
          <a:endParaRPr lang="en-IN"/>
        </a:p>
      </dgm:t>
    </dgm:pt>
    <dgm:pt modelId="{2F95DDF7-BBA5-4570-9811-C907BC38C4D0}" type="pres">
      <dgm:prSet presAssocID="{295E39A9-F965-483E-B8A4-AE12388590B9}" presName="linearFlow" presStyleCnt="0">
        <dgm:presLayoutVars>
          <dgm:dir/>
          <dgm:animLvl val="lvl"/>
          <dgm:resizeHandles val="exact"/>
        </dgm:presLayoutVars>
      </dgm:prSet>
      <dgm:spPr/>
    </dgm:pt>
    <dgm:pt modelId="{247F261B-70B5-49D9-B7B3-8CA66099334F}" type="pres">
      <dgm:prSet presAssocID="{2F66D812-0057-40D7-973F-F044A84500D0}" presName="composite" presStyleCnt="0"/>
      <dgm:spPr/>
    </dgm:pt>
    <dgm:pt modelId="{1DBF578C-00B5-4381-B0CF-78E27435A5EC}" type="pres">
      <dgm:prSet presAssocID="{2F66D812-0057-40D7-973F-F044A84500D0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41B691F9-272A-4F10-B337-FAF4233068A0}" type="pres">
      <dgm:prSet presAssocID="{2F66D812-0057-40D7-973F-F044A84500D0}" presName="descendantText" presStyleLbl="alignAcc1" presStyleIdx="0" presStyleCnt="4">
        <dgm:presLayoutVars>
          <dgm:bulletEnabled val="1"/>
        </dgm:presLayoutVars>
      </dgm:prSet>
      <dgm:spPr/>
    </dgm:pt>
    <dgm:pt modelId="{5EF84626-36A8-4CFB-A10F-46EA4C470E5D}" type="pres">
      <dgm:prSet presAssocID="{99DCAF3E-B3C3-4EFC-8661-9B31CB780FA4}" presName="sp" presStyleCnt="0"/>
      <dgm:spPr/>
    </dgm:pt>
    <dgm:pt modelId="{4B6DC364-43AB-47A4-8C16-683E11E35E8B}" type="pres">
      <dgm:prSet presAssocID="{2766F933-195E-4CB6-AB85-0D0A4981BDE5}" presName="composite" presStyleCnt="0"/>
      <dgm:spPr/>
    </dgm:pt>
    <dgm:pt modelId="{22479053-459C-42FF-92EB-F5F0E2EA3E17}" type="pres">
      <dgm:prSet presAssocID="{2766F933-195E-4CB6-AB85-0D0A4981BDE5}" presName="parentText" presStyleLbl="alignNode1" presStyleIdx="1" presStyleCnt="4" custLinFactNeighborX="0" custLinFactNeighborY="6049">
        <dgm:presLayoutVars>
          <dgm:chMax val="1"/>
          <dgm:bulletEnabled val="1"/>
        </dgm:presLayoutVars>
      </dgm:prSet>
      <dgm:spPr/>
    </dgm:pt>
    <dgm:pt modelId="{5E399E7A-37F3-466E-8C1A-378AFB5CCBC9}" type="pres">
      <dgm:prSet presAssocID="{2766F933-195E-4CB6-AB85-0D0A4981BDE5}" presName="descendantText" presStyleLbl="alignAcc1" presStyleIdx="1" presStyleCnt="4">
        <dgm:presLayoutVars>
          <dgm:bulletEnabled val="1"/>
        </dgm:presLayoutVars>
      </dgm:prSet>
      <dgm:spPr/>
    </dgm:pt>
    <dgm:pt modelId="{B50D408B-3B60-4117-842F-56CED2B8ED12}" type="pres">
      <dgm:prSet presAssocID="{3F4B62C6-1217-4055-941C-AA3A2E6F9C62}" presName="sp" presStyleCnt="0"/>
      <dgm:spPr/>
    </dgm:pt>
    <dgm:pt modelId="{72630060-F71C-495B-B0EC-C1BECA19181F}" type="pres">
      <dgm:prSet presAssocID="{6C28A34B-B7D0-4C96-A491-A0F6208BBBFE}" presName="composite" presStyleCnt="0"/>
      <dgm:spPr/>
    </dgm:pt>
    <dgm:pt modelId="{2E3F293F-64CA-4E77-B37B-290F9E0CA935}" type="pres">
      <dgm:prSet presAssocID="{6C28A34B-B7D0-4C96-A491-A0F6208BBBFE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4D01EBB9-A9B7-4E97-98F5-7F385BC33230}" type="pres">
      <dgm:prSet presAssocID="{6C28A34B-B7D0-4C96-A491-A0F6208BBBFE}" presName="descendantText" presStyleLbl="alignAcc1" presStyleIdx="2" presStyleCnt="4">
        <dgm:presLayoutVars>
          <dgm:bulletEnabled val="1"/>
        </dgm:presLayoutVars>
      </dgm:prSet>
      <dgm:spPr/>
    </dgm:pt>
    <dgm:pt modelId="{D3EC89C1-7CF1-41EF-B220-54A2A791DFE4}" type="pres">
      <dgm:prSet presAssocID="{E2C93A7D-2E1E-42EE-B3D4-852DBA3A9870}" presName="sp" presStyleCnt="0"/>
      <dgm:spPr/>
    </dgm:pt>
    <dgm:pt modelId="{A4AC57CE-9E02-4BDA-B1D0-3CD58DC14BE5}" type="pres">
      <dgm:prSet presAssocID="{A841EE86-DCC5-4C06-9C1A-3079D9452554}" presName="composite" presStyleCnt="0"/>
      <dgm:spPr/>
    </dgm:pt>
    <dgm:pt modelId="{0F5E4EBE-8736-4261-A1BA-79CCAD2C7762}" type="pres">
      <dgm:prSet presAssocID="{A841EE86-DCC5-4C06-9C1A-3079D9452554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1474C5ED-CC0B-43AB-9537-98EB08B218A0}" type="pres">
      <dgm:prSet presAssocID="{A841EE86-DCC5-4C06-9C1A-3079D9452554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58783312-0EBA-4892-B851-752E3A02E54C}" type="presOf" srcId="{773D7741-D2FC-4F9A-AF4E-9F23AB4CB6A2}" destId="{4D01EBB9-A9B7-4E97-98F5-7F385BC33230}" srcOrd="0" destOrd="1" presId="urn:microsoft.com/office/officeart/2005/8/layout/chevron2"/>
    <dgm:cxn modelId="{140B1614-768F-423C-8989-85459BE265B4}" type="presOf" srcId="{2766F933-195E-4CB6-AB85-0D0A4981BDE5}" destId="{22479053-459C-42FF-92EB-F5F0E2EA3E17}" srcOrd="0" destOrd="0" presId="urn:microsoft.com/office/officeart/2005/8/layout/chevron2"/>
    <dgm:cxn modelId="{B1C97E1A-8488-4424-A64C-846E290214EC}" type="presOf" srcId="{F00F1D47-C7FD-482C-AA02-ABE9D7BE4A41}" destId="{41B691F9-272A-4F10-B337-FAF4233068A0}" srcOrd="0" destOrd="1" presId="urn:microsoft.com/office/officeart/2005/8/layout/chevron2"/>
    <dgm:cxn modelId="{4624A41E-6CCB-41F9-B444-959D2E0EAD3B}" srcId="{295E39A9-F965-483E-B8A4-AE12388590B9}" destId="{6C28A34B-B7D0-4C96-A491-A0F6208BBBFE}" srcOrd="2" destOrd="0" parTransId="{60683765-981B-4927-BF06-455B6C0C6415}" sibTransId="{E2C93A7D-2E1E-42EE-B3D4-852DBA3A9870}"/>
    <dgm:cxn modelId="{4A563125-87DB-4B14-A190-7CA996738B4A}" srcId="{2F66D812-0057-40D7-973F-F044A84500D0}" destId="{F00F1D47-C7FD-482C-AA02-ABE9D7BE4A41}" srcOrd="1" destOrd="0" parTransId="{02CE1687-7F44-47E7-956F-4AEAD8D452F1}" sibTransId="{4B953CD0-A8DD-4CC0-A188-4AE36CB50290}"/>
    <dgm:cxn modelId="{63897625-76E8-4A6E-A740-DB0A9ED6EAFC}" type="presOf" srcId="{F178F570-266D-4790-BFB5-C9F89260F9B1}" destId="{1474C5ED-CC0B-43AB-9537-98EB08B218A0}" srcOrd="0" destOrd="0" presId="urn:microsoft.com/office/officeart/2005/8/layout/chevron2"/>
    <dgm:cxn modelId="{785F4A2B-6515-4A98-81BC-C1122872B6D4}" srcId="{295E39A9-F965-483E-B8A4-AE12388590B9}" destId="{A841EE86-DCC5-4C06-9C1A-3079D9452554}" srcOrd="3" destOrd="0" parTransId="{FCD2589A-E8BC-471C-99E3-5526D8060570}" sibTransId="{579E278E-A480-4763-9FA6-9E8D82F7C557}"/>
    <dgm:cxn modelId="{5556F92C-783F-403A-B7E5-2FEF2F46E2B2}" srcId="{2766F933-195E-4CB6-AB85-0D0A4981BDE5}" destId="{F557C073-2B9B-4B83-8D74-EEDE082AAFA8}" srcOrd="1" destOrd="0" parTransId="{E89C9A18-0728-449A-8561-FAF7F162C047}" sibTransId="{6E2901E6-E84E-4B65-8C42-F25D92773D8E}"/>
    <dgm:cxn modelId="{4C483731-984A-4EBF-8A88-7E60B76AE368}" type="presOf" srcId="{295E39A9-F965-483E-B8A4-AE12388590B9}" destId="{2F95DDF7-BBA5-4570-9811-C907BC38C4D0}" srcOrd="0" destOrd="0" presId="urn:microsoft.com/office/officeart/2005/8/layout/chevron2"/>
    <dgm:cxn modelId="{45855431-D2CA-4B2C-BB5D-496FD7FEFB56}" srcId="{295E39A9-F965-483E-B8A4-AE12388590B9}" destId="{2766F933-195E-4CB6-AB85-0D0A4981BDE5}" srcOrd="1" destOrd="0" parTransId="{F01AAD9A-E179-4E13-9C26-E6958315CACF}" sibTransId="{3F4B62C6-1217-4055-941C-AA3A2E6F9C62}"/>
    <dgm:cxn modelId="{318DDB61-F30F-43F7-AFE2-CD23C8592EC5}" type="presOf" srcId="{EAFA5970-9D88-4A3C-9F4F-DB8261CC70E6}" destId="{5E399E7A-37F3-466E-8C1A-378AFB5CCBC9}" srcOrd="0" destOrd="0" presId="urn:microsoft.com/office/officeart/2005/8/layout/chevron2"/>
    <dgm:cxn modelId="{49948C77-4480-4615-9DB0-B9144FF5938C}" srcId="{295E39A9-F965-483E-B8A4-AE12388590B9}" destId="{2F66D812-0057-40D7-973F-F044A84500D0}" srcOrd="0" destOrd="0" parTransId="{F8FD517E-7310-43DE-BD37-1B3BEFA911AB}" sibTransId="{99DCAF3E-B3C3-4EFC-8661-9B31CB780FA4}"/>
    <dgm:cxn modelId="{96888A5A-83D1-4339-8DA1-DC2B7BFE0CDF}" srcId="{A841EE86-DCC5-4C06-9C1A-3079D9452554}" destId="{B744171A-0F46-4B7E-9200-27D26DF7D785}" srcOrd="1" destOrd="0" parTransId="{657DD9FD-2658-4FCD-8CF5-154B7B91C02C}" sibTransId="{77377BFA-8766-4C64-A658-36A8450038F4}"/>
    <dgm:cxn modelId="{E11DAA81-C24A-4171-82F9-1949971CF61B}" type="presOf" srcId="{527D28A9-416E-4CA3-84E8-15C97784E8FC}" destId="{41B691F9-272A-4F10-B337-FAF4233068A0}" srcOrd="0" destOrd="0" presId="urn:microsoft.com/office/officeart/2005/8/layout/chevron2"/>
    <dgm:cxn modelId="{AD352986-416D-40B9-9559-41157A7FA999}" type="presOf" srcId="{3D0A8EF0-BB78-406E-AE0C-EF7B8255E0B2}" destId="{4D01EBB9-A9B7-4E97-98F5-7F385BC33230}" srcOrd="0" destOrd="0" presId="urn:microsoft.com/office/officeart/2005/8/layout/chevron2"/>
    <dgm:cxn modelId="{4CD9B091-5FD2-4374-838F-FE6D9C9E9E60}" type="presOf" srcId="{A841EE86-DCC5-4C06-9C1A-3079D9452554}" destId="{0F5E4EBE-8736-4261-A1BA-79CCAD2C7762}" srcOrd="0" destOrd="0" presId="urn:microsoft.com/office/officeart/2005/8/layout/chevron2"/>
    <dgm:cxn modelId="{74E84BA5-37E9-4DF0-B39C-FE30DF8849C0}" type="presOf" srcId="{6C28A34B-B7D0-4C96-A491-A0F6208BBBFE}" destId="{2E3F293F-64CA-4E77-B37B-290F9E0CA935}" srcOrd="0" destOrd="0" presId="urn:microsoft.com/office/officeart/2005/8/layout/chevron2"/>
    <dgm:cxn modelId="{4CE412BB-0F27-49BD-ABAE-7FE5AA23315E}" srcId="{A841EE86-DCC5-4C06-9C1A-3079D9452554}" destId="{F178F570-266D-4790-BFB5-C9F89260F9B1}" srcOrd="0" destOrd="0" parTransId="{6CF4BFDA-37B0-4D35-98F3-F24D11B82C30}" sibTransId="{B3E91A38-1CEE-4A6C-95C8-F67AC41FF0B0}"/>
    <dgm:cxn modelId="{5CF0A4BB-1BBB-4D13-96FB-5C2EE7331738}" srcId="{6C28A34B-B7D0-4C96-A491-A0F6208BBBFE}" destId="{3D0A8EF0-BB78-406E-AE0C-EF7B8255E0B2}" srcOrd="0" destOrd="0" parTransId="{B55655B6-0A28-4F58-9786-9B44DEA4EDD5}" sibTransId="{317D078B-5A85-4D66-B6C3-95DE311188CB}"/>
    <dgm:cxn modelId="{B54FE4CF-5900-4C63-A911-CBD76FD1E2ED}" srcId="{2766F933-195E-4CB6-AB85-0D0A4981BDE5}" destId="{EAFA5970-9D88-4A3C-9F4F-DB8261CC70E6}" srcOrd="0" destOrd="0" parTransId="{9C7BC375-6F15-4172-8657-018B69707E9B}" sibTransId="{C268DD0F-A12B-4C64-81C6-6664F9EB61B1}"/>
    <dgm:cxn modelId="{E460C5D9-D589-4F2D-AD4D-BC31FA308DFB}" type="presOf" srcId="{F557C073-2B9B-4B83-8D74-EEDE082AAFA8}" destId="{5E399E7A-37F3-466E-8C1A-378AFB5CCBC9}" srcOrd="0" destOrd="1" presId="urn:microsoft.com/office/officeart/2005/8/layout/chevron2"/>
    <dgm:cxn modelId="{0B3F4FDF-5BD4-42B3-AFE4-F077950CEB7C}" srcId="{6C28A34B-B7D0-4C96-A491-A0F6208BBBFE}" destId="{773D7741-D2FC-4F9A-AF4E-9F23AB4CB6A2}" srcOrd="1" destOrd="0" parTransId="{0F066D58-C71F-418C-9AEC-F32C09411642}" sibTransId="{D7FA9DC6-70D4-4968-B5C8-91565FD36054}"/>
    <dgm:cxn modelId="{0B24D0E8-7286-429D-AA0E-CE551024810F}" srcId="{2F66D812-0057-40D7-973F-F044A84500D0}" destId="{527D28A9-416E-4CA3-84E8-15C97784E8FC}" srcOrd="0" destOrd="0" parTransId="{C9C7F967-1325-46B3-AA8B-CA1B89DE493C}" sibTransId="{A6915B9B-7E02-4954-8EE2-C3E404A53C44}"/>
    <dgm:cxn modelId="{49ED9EED-C4E0-4872-9AD8-83695DFA5378}" type="presOf" srcId="{B744171A-0F46-4B7E-9200-27D26DF7D785}" destId="{1474C5ED-CC0B-43AB-9537-98EB08B218A0}" srcOrd="0" destOrd="1" presId="urn:microsoft.com/office/officeart/2005/8/layout/chevron2"/>
    <dgm:cxn modelId="{819A3FF0-3250-420D-B201-5DAB7F685023}" type="presOf" srcId="{2F66D812-0057-40D7-973F-F044A84500D0}" destId="{1DBF578C-00B5-4381-B0CF-78E27435A5EC}" srcOrd="0" destOrd="0" presId="urn:microsoft.com/office/officeart/2005/8/layout/chevron2"/>
    <dgm:cxn modelId="{B2AFCB5B-54AA-4DE8-A77C-A8C8FD5BEBE5}" type="presParOf" srcId="{2F95DDF7-BBA5-4570-9811-C907BC38C4D0}" destId="{247F261B-70B5-49D9-B7B3-8CA66099334F}" srcOrd="0" destOrd="0" presId="urn:microsoft.com/office/officeart/2005/8/layout/chevron2"/>
    <dgm:cxn modelId="{C7446948-476C-4443-9340-072A7862F5D8}" type="presParOf" srcId="{247F261B-70B5-49D9-B7B3-8CA66099334F}" destId="{1DBF578C-00B5-4381-B0CF-78E27435A5EC}" srcOrd="0" destOrd="0" presId="urn:microsoft.com/office/officeart/2005/8/layout/chevron2"/>
    <dgm:cxn modelId="{56858F28-3C8A-4ABB-8D85-9158B5430003}" type="presParOf" srcId="{247F261B-70B5-49D9-B7B3-8CA66099334F}" destId="{41B691F9-272A-4F10-B337-FAF4233068A0}" srcOrd="1" destOrd="0" presId="urn:microsoft.com/office/officeart/2005/8/layout/chevron2"/>
    <dgm:cxn modelId="{AD350FDD-6912-4F72-9BE6-4BEB33A69E1D}" type="presParOf" srcId="{2F95DDF7-BBA5-4570-9811-C907BC38C4D0}" destId="{5EF84626-36A8-4CFB-A10F-46EA4C470E5D}" srcOrd="1" destOrd="0" presId="urn:microsoft.com/office/officeart/2005/8/layout/chevron2"/>
    <dgm:cxn modelId="{DA0B576E-9E74-45E0-B0E2-FB214DB19637}" type="presParOf" srcId="{2F95DDF7-BBA5-4570-9811-C907BC38C4D0}" destId="{4B6DC364-43AB-47A4-8C16-683E11E35E8B}" srcOrd="2" destOrd="0" presId="urn:microsoft.com/office/officeart/2005/8/layout/chevron2"/>
    <dgm:cxn modelId="{ACB05650-EADB-43FF-BCE9-854E6C042091}" type="presParOf" srcId="{4B6DC364-43AB-47A4-8C16-683E11E35E8B}" destId="{22479053-459C-42FF-92EB-F5F0E2EA3E17}" srcOrd="0" destOrd="0" presId="urn:microsoft.com/office/officeart/2005/8/layout/chevron2"/>
    <dgm:cxn modelId="{E86022BB-E632-41D5-BA25-0EC187A0E160}" type="presParOf" srcId="{4B6DC364-43AB-47A4-8C16-683E11E35E8B}" destId="{5E399E7A-37F3-466E-8C1A-378AFB5CCBC9}" srcOrd="1" destOrd="0" presId="urn:microsoft.com/office/officeart/2005/8/layout/chevron2"/>
    <dgm:cxn modelId="{DA084517-0B8D-495F-89E9-AD8613707BAC}" type="presParOf" srcId="{2F95DDF7-BBA5-4570-9811-C907BC38C4D0}" destId="{B50D408B-3B60-4117-842F-56CED2B8ED12}" srcOrd="3" destOrd="0" presId="urn:microsoft.com/office/officeart/2005/8/layout/chevron2"/>
    <dgm:cxn modelId="{F5BBC6D3-9B71-4498-B1CD-1D4F8F026019}" type="presParOf" srcId="{2F95DDF7-BBA5-4570-9811-C907BC38C4D0}" destId="{72630060-F71C-495B-B0EC-C1BECA19181F}" srcOrd="4" destOrd="0" presId="urn:microsoft.com/office/officeart/2005/8/layout/chevron2"/>
    <dgm:cxn modelId="{D930539D-D894-4864-A5D4-B3DC6116264E}" type="presParOf" srcId="{72630060-F71C-495B-B0EC-C1BECA19181F}" destId="{2E3F293F-64CA-4E77-B37B-290F9E0CA935}" srcOrd="0" destOrd="0" presId="urn:microsoft.com/office/officeart/2005/8/layout/chevron2"/>
    <dgm:cxn modelId="{6EF92188-D918-4AC9-90CE-50CD23C526E7}" type="presParOf" srcId="{72630060-F71C-495B-B0EC-C1BECA19181F}" destId="{4D01EBB9-A9B7-4E97-98F5-7F385BC33230}" srcOrd="1" destOrd="0" presId="urn:microsoft.com/office/officeart/2005/8/layout/chevron2"/>
    <dgm:cxn modelId="{A7E89DE2-2456-4E59-8B6E-F682F839376D}" type="presParOf" srcId="{2F95DDF7-BBA5-4570-9811-C907BC38C4D0}" destId="{D3EC89C1-7CF1-41EF-B220-54A2A791DFE4}" srcOrd="5" destOrd="0" presId="urn:microsoft.com/office/officeart/2005/8/layout/chevron2"/>
    <dgm:cxn modelId="{5FD1FE3C-8C2E-4B7F-AE22-8FEA195373EC}" type="presParOf" srcId="{2F95DDF7-BBA5-4570-9811-C907BC38C4D0}" destId="{A4AC57CE-9E02-4BDA-B1D0-3CD58DC14BE5}" srcOrd="6" destOrd="0" presId="urn:microsoft.com/office/officeart/2005/8/layout/chevron2"/>
    <dgm:cxn modelId="{0E89FEFD-CA2D-4B57-831B-7E2B89C6C9F2}" type="presParOf" srcId="{A4AC57CE-9E02-4BDA-B1D0-3CD58DC14BE5}" destId="{0F5E4EBE-8736-4261-A1BA-79CCAD2C7762}" srcOrd="0" destOrd="0" presId="urn:microsoft.com/office/officeart/2005/8/layout/chevron2"/>
    <dgm:cxn modelId="{3D9D2F87-9FF7-4469-8E87-FE15475D860E}" type="presParOf" srcId="{A4AC57CE-9E02-4BDA-B1D0-3CD58DC14BE5}" destId="{1474C5ED-CC0B-43AB-9537-98EB08B218A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BF578C-00B5-4381-B0CF-78E27435A5EC}">
      <dsp:nvSpPr>
        <dsp:cNvPr id="0" name=""/>
        <dsp:cNvSpPr/>
      </dsp:nvSpPr>
      <dsp:spPr>
        <a:xfrm rot="5400000">
          <a:off x="-150023" y="151067"/>
          <a:ext cx="1000159" cy="7001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 </a:t>
          </a:r>
        </a:p>
      </dsp:txBody>
      <dsp:txXfrm rot="-5400000">
        <a:off x="2" y="351099"/>
        <a:ext cx="700111" cy="300048"/>
      </dsp:txXfrm>
    </dsp:sp>
    <dsp:sp modelId="{41B691F9-272A-4F10-B337-FAF4233068A0}">
      <dsp:nvSpPr>
        <dsp:cNvPr id="0" name=""/>
        <dsp:cNvSpPr/>
      </dsp:nvSpPr>
      <dsp:spPr>
        <a:xfrm rot="5400000">
          <a:off x="3168049" y="-2466894"/>
          <a:ext cx="650103" cy="55859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b="1" kern="1200" dirty="0"/>
            <a:t>Jenkins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800" kern="1200" dirty="0"/>
            <a:t>Exposes metrics via Prometheus plugin</a:t>
          </a:r>
          <a:endParaRPr lang="en-IN" sz="1800" kern="1200" dirty="0"/>
        </a:p>
      </dsp:txBody>
      <dsp:txXfrm rot="-5400000">
        <a:off x="700112" y="32778"/>
        <a:ext cx="5554244" cy="586633"/>
      </dsp:txXfrm>
    </dsp:sp>
    <dsp:sp modelId="{22479053-459C-42FF-92EB-F5F0E2EA3E17}">
      <dsp:nvSpPr>
        <dsp:cNvPr id="0" name=""/>
        <dsp:cNvSpPr/>
      </dsp:nvSpPr>
      <dsp:spPr>
        <a:xfrm rot="5400000">
          <a:off x="-150023" y="1060804"/>
          <a:ext cx="1000159" cy="7001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  </a:t>
          </a:r>
        </a:p>
      </dsp:txBody>
      <dsp:txXfrm rot="-5400000">
        <a:off x="2" y="1260836"/>
        <a:ext cx="700111" cy="300048"/>
      </dsp:txXfrm>
    </dsp:sp>
    <dsp:sp modelId="{5E399E7A-37F3-466E-8C1A-378AFB5CCBC9}">
      <dsp:nvSpPr>
        <dsp:cNvPr id="0" name=""/>
        <dsp:cNvSpPr/>
      </dsp:nvSpPr>
      <dsp:spPr>
        <a:xfrm rot="5400000">
          <a:off x="3168049" y="-1617657"/>
          <a:ext cx="650103" cy="55859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b="1" kern="1200" dirty="0"/>
            <a:t>Prometheus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/>
            <a:t>Scrapes and stores time-series data</a:t>
          </a:r>
          <a:endParaRPr lang="en-IN" sz="1800" kern="1200" dirty="0"/>
        </a:p>
      </dsp:txBody>
      <dsp:txXfrm rot="-5400000">
        <a:off x="700112" y="882015"/>
        <a:ext cx="5554244" cy="586633"/>
      </dsp:txXfrm>
    </dsp:sp>
    <dsp:sp modelId="{2E3F293F-64CA-4E77-B37B-290F9E0CA935}">
      <dsp:nvSpPr>
        <dsp:cNvPr id="0" name=""/>
        <dsp:cNvSpPr/>
      </dsp:nvSpPr>
      <dsp:spPr>
        <a:xfrm rot="5400000">
          <a:off x="-150023" y="1849542"/>
          <a:ext cx="1000159" cy="7001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 </a:t>
          </a:r>
        </a:p>
      </dsp:txBody>
      <dsp:txXfrm rot="-5400000">
        <a:off x="2" y="2049574"/>
        <a:ext cx="700111" cy="300048"/>
      </dsp:txXfrm>
    </dsp:sp>
    <dsp:sp modelId="{4D01EBB9-A9B7-4E97-98F5-7F385BC33230}">
      <dsp:nvSpPr>
        <dsp:cNvPr id="0" name=""/>
        <dsp:cNvSpPr/>
      </dsp:nvSpPr>
      <dsp:spPr>
        <a:xfrm rot="5400000">
          <a:off x="3168049" y="-768419"/>
          <a:ext cx="650103" cy="55859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b="1" kern="1200" dirty="0"/>
            <a:t>Grafana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kern="1200" dirty="0"/>
            <a:t>Visualises metrics in real-time</a:t>
          </a:r>
        </a:p>
      </dsp:txBody>
      <dsp:txXfrm rot="-5400000">
        <a:off x="700112" y="1731253"/>
        <a:ext cx="5554244" cy="586633"/>
      </dsp:txXfrm>
    </dsp:sp>
    <dsp:sp modelId="{0F5E4EBE-8736-4261-A1BA-79CCAD2C7762}">
      <dsp:nvSpPr>
        <dsp:cNvPr id="0" name=""/>
        <dsp:cNvSpPr/>
      </dsp:nvSpPr>
      <dsp:spPr>
        <a:xfrm rot="5400000">
          <a:off x="-150023" y="2698779"/>
          <a:ext cx="1000159" cy="7001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 dirty="0"/>
        </a:p>
      </dsp:txBody>
      <dsp:txXfrm rot="-5400000">
        <a:off x="2" y="2898811"/>
        <a:ext cx="700111" cy="300048"/>
      </dsp:txXfrm>
    </dsp:sp>
    <dsp:sp modelId="{1474C5ED-CC0B-43AB-9537-98EB08B218A0}">
      <dsp:nvSpPr>
        <dsp:cNvPr id="0" name=""/>
        <dsp:cNvSpPr/>
      </dsp:nvSpPr>
      <dsp:spPr>
        <a:xfrm rot="5400000">
          <a:off x="3168049" y="80817"/>
          <a:ext cx="650103" cy="55859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b="1" kern="1200"/>
            <a:t>Python Script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kern="1200"/>
            <a:t>Consumes API, calculates scores, exports results</a:t>
          </a:r>
        </a:p>
      </dsp:txBody>
      <dsp:txXfrm rot="-5400000">
        <a:off x="700112" y="2580490"/>
        <a:ext cx="5554244" cy="5866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773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370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485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476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289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062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348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462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579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83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5230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288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03393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559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739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83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E8768-5D38-4131-9D80-5B657BE6F56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DEDC04C-C517-458E-87F8-CE8A8C17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079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6.sv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3A8F3-0F0E-17D9-9962-1D7E68A43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3174" y="744793"/>
            <a:ext cx="7688826" cy="22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Jenkins Health Monitoring, Metrics Collection &amp; Automated Scoring System</a:t>
            </a:r>
            <a:endParaRPr lang="en-IN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A41349-B7D9-B5A7-ABE9-101C142CD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2362" y="3212955"/>
            <a:ext cx="3490450" cy="3812194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Group Name: - DEVDYNAMOS </a:t>
            </a:r>
          </a:p>
          <a:p>
            <a:r>
              <a:rPr lang="en-IN" b="1" dirty="0"/>
              <a:t>Team Members :- </a:t>
            </a:r>
          </a:p>
          <a:p>
            <a:r>
              <a:rPr lang="en-IN" dirty="0"/>
              <a:t>Subrat Malik </a:t>
            </a:r>
            <a:br>
              <a:rPr lang="en-IN" dirty="0"/>
            </a:br>
            <a:r>
              <a:rPr lang="en-IN" dirty="0"/>
              <a:t>Shyam Sundar Bala</a:t>
            </a:r>
            <a:br>
              <a:rPr lang="en-IN" dirty="0"/>
            </a:br>
            <a:r>
              <a:rPr lang="en-IN" dirty="0"/>
              <a:t>Amlan Jyoti Parida</a:t>
            </a:r>
            <a:br>
              <a:rPr lang="en-IN" dirty="0"/>
            </a:br>
            <a:r>
              <a:rPr lang="en-IN" dirty="0"/>
              <a:t>Basak Pramanik</a:t>
            </a:r>
            <a:br>
              <a:rPr lang="en-IN" dirty="0"/>
            </a:br>
            <a:r>
              <a:rPr lang="en-IN" dirty="0"/>
              <a:t>Swagnik Shit</a:t>
            </a:r>
            <a:br>
              <a:rPr lang="en-IN" dirty="0"/>
            </a:br>
            <a:r>
              <a:rPr lang="en-IN" dirty="0"/>
              <a:t>Swattik Shit</a:t>
            </a:r>
            <a:br>
              <a:rPr lang="en-IN" dirty="0"/>
            </a:br>
            <a:r>
              <a:rPr lang="en-IN" dirty="0"/>
              <a:t>Bijaya Kumar Rout </a:t>
            </a:r>
            <a:br>
              <a:rPr lang="en-IN" dirty="0"/>
            </a:br>
            <a:r>
              <a:rPr lang="en-IN" dirty="0"/>
              <a:t>Chandan Goria</a:t>
            </a:r>
            <a:br>
              <a:rPr lang="en-IN" dirty="0"/>
            </a:br>
            <a:r>
              <a:rPr lang="en-IN" dirty="0"/>
              <a:t>Sai Sankar Sethi</a:t>
            </a:r>
            <a:br>
              <a:rPr lang="en-IN" dirty="0"/>
            </a:br>
            <a:r>
              <a:rPr lang="en-IN" dirty="0"/>
              <a:t>Brajendra Prasad Samal </a:t>
            </a:r>
            <a:br>
              <a:rPr lang="en-IN" dirty="0"/>
            </a:br>
            <a:r>
              <a:rPr lang="en-IN" dirty="0"/>
              <a:t>Rakesh Samal</a:t>
            </a:r>
            <a:br>
              <a:rPr lang="en-IN" dirty="0"/>
            </a:br>
            <a:r>
              <a:rPr lang="en-IN" dirty="0"/>
              <a:t>Alok Kumar Bisoi 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890E4E-3BB4-0C71-4810-93468CF9A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031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11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B74F-FF15-2424-5229-D6C76FE87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87039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C362A-4272-C72E-10A5-F3F567D6E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2" y="1809135"/>
            <a:ext cx="4657162" cy="232041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        Health Monitoring</a:t>
            </a:r>
          </a:p>
          <a:p>
            <a:r>
              <a:rPr lang="en-US" dirty="0"/>
              <a:t>Monitor Jenkins job health and performance in real-time to identify bottlenecks and failures before they impact delivery pipelines.</a:t>
            </a:r>
          </a:p>
          <a:p>
            <a:endParaRPr lang="en-IN" dirty="0"/>
          </a:p>
        </p:txBody>
      </p:sp>
      <p:pic>
        <p:nvPicPr>
          <p:cNvPr id="5" name="Graphic 4" descr="Heart with pulse with solid fill">
            <a:extLst>
              <a:ext uri="{FF2B5EF4-FFF2-40B4-BE49-F238E27FC236}">
                <a16:creationId xmlns:a16="http://schemas.microsoft.com/office/drawing/2014/main" id="{BE0FA129-DBA4-5F83-CEB1-9D901D7D4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6065" y="1494503"/>
            <a:ext cx="734091" cy="7340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C09489-E22C-951F-9DA3-6D7B4D8C24E7}"/>
              </a:ext>
            </a:extLst>
          </p:cNvPr>
          <p:cNvSpPr txBox="1"/>
          <p:nvPr/>
        </p:nvSpPr>
        <p:spPr>
          <a:xfrm>
            <a:off x="6400801" y="1861548"/>
            <a:ext cx="47489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Metrics Collection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Collect comprehensive metrics using Prometheus to track build success rates, resource </a:t>
            </a:r>
            <a:r>
              <a:rPr lang="en-US" dirty="0" err="1"/>
              <a:t>utilisation</a:t>
            </a:r>
            <a:r>
              <a:rPr lang="en-US" dirty="0"/>
              <a:t>, and system stability.</a:t>
            </a:r>
          </a:p>
          <a:p>
            <a:endParaRPr lang="en-IN" dirty="0"/>
          </a:p>
        </p:txBody>
      </p:sp>
      <p:pic>
        <p:nvPicPr>
          <p:cNvPr id="8" name="Graphic 7" descr="Bar chart with solid fill">
            <a:extLst>
              <a:ext uri="{FF2B5EF4-FFF2-40B4-BE49-F238E27FC236}">
                <a16:creationId xmlns:a16="http://schemas.microsoft.com/office/drawing/2014/main" id="{7FDC7259-04F4-1908-A72A-432772B41F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2864" y="1494503"/>
            <a:ext cx="644074" cy="6440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A9884F-CD25-D604-8AB2-4D5CE77AC497}"/>
              </a:ext>
            </a:extLst>
          </p:cNvPr>
          <p:cNvSpPr txBox="1"/>
          <p:nvPr/>
        </p:nvSpPr>
        <p:spPr>
          <a:xfrm>
            <a:off x="1076465" y="3945162"/>
            <a:ext cx="36081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Visualization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/>
              <a:t>Build Grafana dashboards for real-time insights into Jenkins performance, enabling data-driven decision-making.</a:t>
            </a:r>
          </a:p>
        </p:txBody>
      </p:sp>
      <p:pic>
        <p:nvPicPr>
          <p:cNvPr id="11" name="Graphic 10" descr="Atom with solid fill">
            <a:extLst>
              <a:ext uri="{FF2B5EF4-FFF2-40B4-BE49-F238E27FC236}">
                <a16:creationId xmlns:a16="http://schemas.microsoft.com/office/drawing/2014/main" id="{7DA3791B-92B7-9B1E-E1EF-2DB327B159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1494" y="3673546"/>
            <a:ext cx="543232" cy="5432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96DAFC-E3F8-0BA7-B08D-610A9C6CBA96}"/>
              </a:ext>
            </a:extLst>
          </p:cNvPr>
          <p:cNvSpPr txBox="1"/>
          <p:nvPr/>
        </p:nvSpPr>
        <p:spPr>
          <a:xfrm>
            <a:off x="6572864" y="4129547"/>
            <a:ext cx="41492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Automated Scoring</a:t>
            </a:r>
          </a:p>
          <a:p>
            <a:pPr marL="285750" indent="-285750">
              <a:buClr>
                <a:srgbClr val="B43636"/>
              </a:buClr>
              <a:buFont typeface="Wingdings" panose="05000000000000000000" pitchFamily="2" charset="2"/>
              <a:buChar char="Ø"/>
            </a:pPr>
            <a:r>
              <a:rPr lang="en-US" dirty="0"/>
              <a:t>Develop a Python scoring engine to quantify Jenkins health and security posture through weighted algorithmic assessment.</a:t>
            </a:r>
          </a:p>
          <a:p>
            <a:endParaRPr lang="en-IN" dirty="0"/>
          </a:p>
        </p:txBody>
      </p:sp>
      <p:pic>
        <p:nvPicPr>
          <p:cNvPr id="14" name="Graphic 13" descr="Beaker with solid fill">
            <a:extLst>
              <a:ext uri="{FF2B5EF4-FFF2-40B4-BE49-F238E27FC236}">
                <a16:creationId xmlns:a16="http://schemas.microsoft.com/office/drawing/2014/main" id="{398BF445-F450-BB48-393F-0A12AB9398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33872" y="3805084"/>
            <a:ext cx="608369" cy="60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3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95F3-9847-3D5D-DB5D-A56EC7FE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977" y="426355"/>
            <a:ext cx="5872650" cy="1280890"/>
          </a:xfrm>
        </p:spPr>
        <p:txBody>
          <a:bodyPr/>
          <a:lstStyle/>
          <a:p>
            <a:r>
              <a:rPr lang="en-IN" b="1" dirty="0"/>
              <a:t>Project 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F4BFF-9202-413A-7AC1-BF56B75E2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4284" y="2133600"/>
            <a:ext cx="6480328" cy="3777622"/>
          </a:xfrm>
        </p:spPr>
        <p:txBody>
          <a:bodyPr/>
          <a:lstStyle/>
          <a:p>
            <a:r>
              <a:rPr lang="en-US" dirty="0"/>
              <a:t>Set up a functional Jenkins CI environment.</a:t>
            </a:r>
          </a:p>
          <a:p>
            <a:r>
              <a:rPr lang="en-US" dirty="0"/>
              <a:t>Integrate Prometheus for real-time metric scraping.</a:t>
            </a:r>
          </a:p>
          <a:p>
            <a:r>
              <a:rPr lang="en-US" dirty="0"/>
              <a:t>Build Grafana dashboards for effective visualization.</a:t>
            </a:r>
          </a:p>
          <a:p>
            <a:r>
              <a:rPr lang="en-US" dirty="0"/>
              <a:t>Process collected metrics using Python</a:t>
            </a:r>
          </a:p>
          <a:p>
            <a:r>
              <a:rPr lang="en-US" dirty="0"/>
              <a:t>Compute Jenkins health and security scores.</a:t>
            </a:r>
          </a:p>
          <a:p>
            <a:r>
              <a:rPr lang="en-US" dirty="0"/>
              <a:t>Export results as JSON and generate a visual score chart.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61F32C-5D3D-A2F8-F1B6-E751E615A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554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42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BB72E-0A56-88FF-CE7D-E58127F0E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111" y="896954"/>
            <a:ext cx="8911687" cy="1280890"/>
          </a:xfrm>
        </p:spPr>
        <p:txBody>
          <a:bodyPr/>
          <a:lstStyle/>
          <a:p>
            <a:pPr algn="ctr"/>
            <a:r>
              <a:rPr lang="en-IN" b="1" dirty="0"/>
              <a:t>Technology Stack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565A391-B843-E2B1-B94B-6973D7A1C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512026"/>
              </p:ext>
            </p:extLst>
          </p:nvPr>
        </p:nvGraphicFramePr>
        <p:xfrm>
          <a:off x="1674568" y="2686187"/>
          <a:ext cx="9684775" cy="3148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8257">
                  <a:extLst>
                    <a:ext uri="{9D8B030D-6E8A-4147-A177-3AD203B41FA5}">
                      <a16:colId xmlns:a16="http://schemas.microsoft.com/office/drawing/2014/main" val="3603698008"/>
                    </a:ext>
                  </a:extLst>
                </a:gridCol>
                <a:gridCol w="4500833">
                  <a:extLst>
                    <a:ext uri="{9D8B030D-6E8A-4147-A177-3AD203B41FA5}">
                      <a16:colId xmlns:a16="http://schemas.microsoft.com/office/drawing/2014/main" val="2536623962"/>
                    </a:ext>
                  </a:extLst>
                </a:gridCol>
                <a:gridCol w="1955685">
                  <a:extLst>
                    <a:ext uri="{9D8B030D-6E8A-4147-A177-3AD203B41FA5}">
                      <a16:colId xmlns:a16="http://schemas.microsoft.com/office/drawing/2014/main" val="2724158681"/>
                    </a:ext>
                  </a:extLst>
                </a:gridCol>
              </a:tblGrid>
              <a:tr h="40623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Tools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401479"/>
                  </a:ext>
                </a:extLst>
              </a:tr>
              <a:tr h="40623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Jenkins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CI/CD Job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2.528.1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225902"/>
                  </a:ext>
                </a:extLst>
              </a:tr>
              <a:tr h="406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Prometheus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Time-series data scraping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Latest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59425"/>
                  </a:ext>
                </a:extLst>
              </a:tr>
              <a:tr h="40623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Grafana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Visualization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Latest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426823"/>
                  </a:ext>
                </a:extLst>
              </a:tr>
              <a:tr h="40623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Data processing, scoring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3.9+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025377"/>
                  </a:ext>
                </a:extLst>
              </a:tr>
              <a:tr h="71090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Score visualization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Latest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537098"/>
                  </a:ext>
                </a:extLst>
              </a:tr>
              <a:tr h="40623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Data export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Standard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953009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405DBB62-11C8-F954-4508-EB7CAE558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103" y="111341"/>
            <a:ext cx="2403750" cy="24037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78633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1FD36-4E84-5A5B-F35B-89A8FF02A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700" y="565116"/>
            <a:ext cx="6068661" cy="1280890"/>
          </a:xfrm>
        </p:spPr>
        <p:txBody>
          <a:bodyPr/>
          <a:lstStyle/>
          <a:p>
            <a:r>
              <a:rPr lang="en-IN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EA9D2-25D0-277B-9AB0-A814A48A9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676" y="1338999"/>
            <a:ext cx="7193885" cy="1910934"/>
          </a:xfrm>
        </p:spPr>
        <p:txBody>
          <a:bodyPr>
            <a:normAutofit/>
          </a:bodyPr>
          <a:lstStyle/>
          <a:p>
            <a:r>
              <a:rPr lang="en-US" dirty="0"/>
              <a:t>The monitoring pipeline follows a multi-stage architecture where Jenkins exposes metrics, Prometheus collects and stores them, Grafana provides </a:t>
            </a:r>
            <a:r>
              <a:rPr lang="en-US" dirty="0" err="1"/>
              <a:t>visualisation</a:t>
            </a:r>
            <a:r>
              <a:rPr lang="en-US" dirty="0"/>
              <a:t>, and Python performs advanced analysis.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771B4-0D19-0106-56A7-177440235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43700" cy="6858000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CCACA29-7EB8-582B-4998-03C4B0788A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9838210"/>
              </p:ext>
            </p:extLst>
          </p:nvPr>
        </p:nvGraphicFramePr>
        <p:xfrm>
          <a:off x="5178322" y="2742926"/>
          <a:ext cx="6286091" cy="3549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Graphic 9" descr="Snake with solid fill">
            <a:extLst>
              <a:ext uri="{FF2B5EF4-FFF2-40B4-BE49-F238E27FC236}">
                <a16:creationId xmlns:a16="http://schemas.microsoft.com/office/drawing/2014/main" id="{87C05B5F-484D-42FD-5391-715E580A4E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66254" y="5573449"/>
            <a:ext cx="449827" cy="449827"/>
          </a:xfrm>
          <a:prstGeom prst="rect">
            <a:avLst/>
          </a:prstGeom>
        </p:spPr>
      </p:pic>
      <p:pic>
        <p:nvPicPr>
          <p:cNvPr id="14" name="Graphic 13" descr="Laptop with solid fill">
            <a:extLst>
              <a:ext uri="{FF2B5EF4-FFF2-40B4-BE49-F238E27FC236}">
                <a16:creationId xmlns:a16="http://schemas.microsoft.com/office/drawing/2014/main" id="{322172B2-9927-2814-5385-AD62CF1756B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78322" y="4653860"/>
            <a:ext cx="649981" cy="649981"/>
          </a:xfrm>
          <a:prstGeom prst="rect">
            <a:avLst/>
          </a:prstGeom>
        </p:spPr>
      </p:pic>
      <p:pic>
        <p:nvPicPr>
          <p:cNvPr id="16" name="Graphic 15" descr="Person with idea with solid fill">
            <a:extLst>
              <a:ext uri="{FF2B5EF4-FFF2-40B4-BE49-F238E27FC236}">
                <a16:creationId xmlns:a16="http://schemas.microsoft.com/office/drawing/2014/main" id="{4733DEFA-CE49-1AB1-2C21-2ED76B24C2A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79952" y="3894185"/>
            <a:ext cx="622430" cy="622430"/>
          </a:xfrm>
          <a:prstGeom prst="rect">
            <a:avLst/>
          </a:prstGeom>
        </p:spPr>
      </p:pic>
      <p:pic>
        <p:nvPicPr>
          <p:cNvPr id="18" name="Graphic 17" descr="Game controller with solid fill">
            <a:extLst>
              <a:ext uri="{FF2B5EF4-FFF2-40B4-BE49-F238E27FC236}">
                <a16:creationId xmlns:a16="http://schemas.microsoft.com/office/drawing/2014/main" id="{6C1CC819-213A-084C-C9C4-4CF0AAFF3F9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33818" y="2963815"/>
            <a:ext cx="622430" cy="62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798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B5E6-3083-70A3-9561-2CB48873D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25787"/>
            <a:ext cx="8911687" cy="1280890"/>
          </a:xfrm>
        </p:spPr>
        <p:txBody>
          <a:bodyPr/>
          <a:lstStyle/>
          <a:p>
            <a:r>
              <a:rPr lang="en-IN" b="1" dirty="0"/>
              <a:t>Jenkins Environment Setup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1852C4-C36C-0B13-ABD7-EFD498445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951" y="2076724"/>
            <a:ext cx="5408878" cy="31416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9A3DF-7F71-A502-DFB6-66141CF7A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32" y="1440764"/>
            <a:ext cx="6308981" cy="4517583"/>
          </a:xfrm>
        </p:spPr>
        <p:txBody>
          <a:bodyPr/>
          <a:lstStyle/>
          <a:p>
            <a:r>
              <a:rPr lang="en-US" b="1" dirty="0"/>
              <a:t>Configuration Details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	Installed Jenkins version 2.528.1 with latest security patches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	Configured test jobs: success-job, failed-job, unstable-job, and </a:t>
            </a:r>
            <a:r>
              <a:rPr lang="en-US" dirty="0" err="1"/>
              <a:t>cpu</a:t>
            </a:r>
            <a:r>
              <a:rPr lang="en-US" dirty="0"/>
              <a:t>-load-job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	Enabled Prometheus metrics plugin for metric exposure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	Activated "Add build status label" for enhanced tracking</a:t>
            </a:r>
          </a:p>
          <a:p>
            <a:r>
              <a:rPr lang="en-US" dirty="0"/>
              <a:t>The Jenkins instance serves as the foundation for our monitoring infrastructure, providing the metrics that drive our health scoring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0756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D35F9-94BA-9008-032E-D08B92185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94613"/>
            <a:ext cx="8911687" cy="1280890"/>
          </a:xfrm>
        </p:spPr>
        <p:txBody>
          <a:bodyPr/>
          <a:lstStyle/>
          <a:p>
            <a:r>
              <a:rPr lang="en-IN" b="1" dirty="0"/>
              <a:t>Prometheus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6E3AB-3B9B-1597-FA23-70A244240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7767" y="1396181"/>
            <a:ext cx="8915400" cy="3777622"/>
          </a:xfrm>
        </p:spPr>
        <p:txBody>
          <a:bodyPr/>
          <a:lstStyle/>
          <a:p>
            <a:r>
              <a:rPr lang="en-US" dirty="0"/>
              <a:t>Jenkins exposes build metrics under the prefix </a:t>
            </a:r>
            <a:r>
              <a:rPr lang="en-US" dirty="0" err="1"/>
              <a:t>default_jenkins_builds_last_build_result</a:t>
            </a:r>
            <a:r>
              <a:rPr lang="en-US" dirty="0"/>
              <a:t>, allowing Prometheus to scrape and store job execution data.</a:t>
            </a:r>
          </a:p>
          <a:p>
            <a:r>
              <a:rPr lang="en-US" dirty="0"/>
              <a:t>Jenkins added as a Prometheus scrape target</a:t>
            </a:r>
          </a:p>
          <a:p>
            <a:r>
              <a:rPr lang="en-IN" dirty="0"/>
              <a:t>Metrics available under /Prometheus</a:t>
            </a:r>
          </a:p>
          <a:p>
            <a:r>
              <a:rPr lang="en-IN" dirty="0"/>
              <a:t>Scrape status: </a:t>
            </a:r>
            <a:r>
              <a:rPr lang="en-IN" b="1" dirty="0"/>
              <a:t>UP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5D1206-732C-9CCA-A9C7-790D15F51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621" y="3969568"/>
            <a:ext cx="6492803" cy="22938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9498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58B71-2C5F-4067-FC71-E6042FB14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74949"/>
            <a:ext cx="8911687" cy="1280890"/>
          </a:xfrm>
        </p:spPr>
        <p:txBody>
          <a:bodyPr/>
          <a:lstStyle/>
          <a:p>
            <a:r>
              <a:rPr lang="en-IN" b="1" dirty="0"/>
              <a:t>Prometheus Metric 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65BE9-563C-8A76-6F09-9AD5BFE88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6824" y="1540189"/>
            <a:ext cx="8915400" cy="3777622"/>
          </a:xfrm>
        </p:spPr>
        <p:txBody>
          <a:bodyPr/>
          <a:lstStyle/>
          <a:p>
            <a:r>
              <a:rPr lang="en-US" dirty="0"/>
              <a:t>Jenkins exposes metrics under prefix: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dirty="0" err="1"/>
              <a:t>default_jenkins_builds_last_build_result</a:t>
            </a:r>
            <a:endParaRPr lang="en-US" dirty="0"/>
          </a:p>
          <a:p>
            <a:r>
              <a:rPr lang="en-IN" dirty="0"/>
              <a:t>Used </a:t>
            </a:r>
            <a:r>
              <a:rPr lang="en-IN" dirty="0" err="1"/>
              <a:t>PromQL</a:t>
            </a:r>
            <a:r>
              <a:rPr lang="en-IN" dirty="0"/>
              <a:t> queries: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dirty="0"/>
              <a:t>SUCCESS -&gt; == 0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dirty="0"/>
              <a:t>FAILURE -&gt; == 1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dirty="0"/>
              <a:t>UNSTABLE -&gt; == 2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dirty="0"/>
              <a:t>ABORTED -&gt; == 3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A01F8-1D8A-41EC-900D-3F2E4B11D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236" y="2413614"/>
            <a:ext cx="5674222" cy="42591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88478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0D02-02FF-B9BC-6749-03811FAD6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0965"/>
            <a:ext cx="8911687" cy="1280890"/>
          </a:xfrm>
        </p:spPr>
        <p:txBody>
          <a:bodyPr/>
          <a:lstStyle/>
          <a:p>
            <a:r>
              <a:rPr lang="en-IN" b="1" dirty="0"/>
              <a:t>Grafana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E56CA-28C6-02C8-B122-41D1F07C1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255" y="1540189"/>
            <a:ext cx="6069083" cy="4280508"/>
          </a:xfrm>
        </p:spPr>
        <p:txBody>
          <a:bodyPr>
            <a:normAutofit/>
          </a:bodyPr>
          <a:lstStyle/>
          <a:p>
            <a:r>
              <a:rPr lang="en-US" b="1" dirty="0"/>
              <a:t>Comprehensive Visual Insights</a:t>
            </a:r>
          </a:p>
          <a:p>
            <a:pPr marL="0" indent="0">
              <a:buNone/>
            </a:pPr>
            <a:r>
              <a:rPr lang="en-US" dirty="0"/>
              <a:t>	Monitor CPU utilization, memory consumption, executor availability, and job counts across all pipeline stages.</a:t>
            </a:r>
          </a:p>
          <a:p>
            <a:r>
              <a:rPr lang="en-US" b="1" dirty="0"/>
              <a:t>Time-Series Analysis</a:t>
            </a:r>
          </a:p>
          <a:p>
            <a:pPr marL="0" indent="0">
              <a:buNone/>
            </a:pPr>
            <a:r>
              <a:rPr lang="en-US" dirty="0"/>
              <a:t>	Track metric trends over configurable time ranges to identify patterns, anomalies, and performance degradation.</a:t>
            </a:r>
          </a:p>
          <a:p>
            <a:r>
              <a:rPr lang="en-US" b="1" dirty="0"/>
              <a:t>Real-Time Updates</a:t>
            </a:r>
          </a:p>
          <a:p>
            <a:pPr marL="0" indent="0">
              <a:buNone/>
            </a:pPr>
            <a:r>
              <a:rPr lang="en-US" dirty="0"/>
              <a:t>	Dashboard refreshes every 5 seconds, ensuring DevOps teams have immediate visibility into system state changes.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45E26-A292-1F44-DE92-9EF8B5EE2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699" y="0"/>
            <a:ext cx="5851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71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50838-ABE5-3B09-F28E-2CB389F3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51" y="604445"/>
            <a:ext cx="8911687" cy="1280890"/>
          </a:xfrm>
        </p:spPr>
        <p:txBody>
          <a:bodyPr/>
          <a:lstStyle/>
          <a:p>
            <a:r>
              <a:rPr lang="en-IN" b="1" dirty="0"/>
              <a:t>Python-Based Metric Processing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56BEC-5C9A-E2D3-9DEA-9E17F271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754" y="1622323"/>
            <a:ext cx="7233214" cy="3777622"/>
          </a:xfrm>
        </p:spPr>
        <p:txBody>
          <a:bodyPr/>
          <a:lstStyle/>
          <a:p>
            <a:r>
              <a:rPr lang="en-IN" b="1" dirty="0"/>
              <a:t>Automated Analysis Pipeline</a:t>
            </a:r>
          </a:p>
          <a:p>
            <a:pPr marL="0" indent="0">
              <a:buNone/>
            </a:pPr>
            <a:r>
              <a:rPr lang="en-IN" dirty="0"/>
              <a:t>The Python script serves as the intelligence layer, fetching metrics from Prometheus API endpoints and applying sophisticated scoring algorithms.</a:t>
            </a:r>
          </a:p>
          <a:p>
            <a:pPr lvl="1"/>
            <a:r>
              <a:rPr lang="en-IN" dirty="0"/>
              <a:t>Queries Prometheus HTTP API for Jenkins metrics</a:t>
            </a:r>
          </a:p>
          <a:p>
            <a:pPr lvl="1"/>
            <a:r>
              <a:rPr lang="en-IN" dirty="0"/>
              <a:t>Computes weighted health score based on multiple factors</a:t>
            </a:r>
          </a:p>
          <a:p>
            <a:pPr lvl="1"/>
            <a:r>
              <a:rPr lang="en-IN" dirty="0"/>
              <a:t>Calculates security score using simulated vulnerability data</a:t>
            </a:r>
          </a:p>
          <a:p>
            <a:pPr lvl="1"/>
            <a:r>
              <a:rPr lang="en-IN" dirty="0"/>
              <a:t>Generates JSON output for integration with other systems</a:t>
            </a:r>
          </a:p>
          <a:p>
            <a:pPr lvl="1"/>
            <a:r>
              <a:rPr lang="en-IN" dirty="0"/>
              <a:t>Creates visualisation graphs using Matplotlib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2C997A-0D25-11FD-CF50-7F5B107F7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968" y="1458055"/>
            <a:ext cx="3947319" cy="48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25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1A71-BD8A-4C2E-0986-46F920911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684" y="624110"/>
            <a:ext cx="8911687" cy="1280890"/>
          </a:xfrm>
        </p:spPr>
        <p:txBody>
          <a:bodyPr/>
          <a:lstStyle/>
          <a:p>
            <a:r>
              <a:rPr lang="en-IN" b="1" dirty="0"/>
              <a:t>Health Metrics Computation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920E51B-93D2-D6CA-FF24-724A1914E2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6638935"/>
              </p:ext>
            </p:extLst>
          </p:nvPr>
        </p:nvGraphicFramePr>
        <p:xfrm>
          <a:off x="810444" y="2310579"/>
          <a:ext cx="10694168" cy="44441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CB56F67-A484-7775-3291-90D8070899AA}"/>
              </a:ext>
            </a:extLst>
          </p:cNvPr>
          <p:cNvSpPr txBox="1"/>
          <p:nvPr/>
        </p:nvSpPr>
        <p:spPr>
          <a:xfrm>
            <a:off x="1533831" y="1443335"/>
            <a:ext cx="102648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health score employs a weighted model that </a:t>
            </a:r>
            <a:r>
              <a:rPr lang="en-US" dirty="0" err="1"/>
              <a:t>prioritises</a:t>
            </a:r>
            <a:r>
              <a:rPr lang="en-US" dirty="0"/>
              <a:t> build success whilst accounting for resource </a:t>
            </a:r>
            <a:r>
              <a:rPr lang="en-US" dirty="0" err="1"/>
              <a:t>utilisation</a:t>
            </a:r>
            <a:r>
              <a:rPr lang="en-US" dirty="0"/>
              <a:t> and system load.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407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E2B2-C8CF-4CB7-2976-7BBCF4879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532" y="358639"/>
            <a:ext cx="7042688" cy="683580"/>
          </a:xfrm>
        </p:spPr>
        <p:txBody>
          <a:bodyPr/>
          <a:lstStyle/>
          <a:p>
            <a:r>
              <a:rPr lang="en-IN" b="1" dirty="0"/>
              <a:t>Security Metrics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5E919-A6C4-FB34-E035-A1E481D3C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67" y="1189703"/>
            <a:ext cx="8915400" cy="3777622"/>
          </a:xfrm>
        </p:spPr>
        <p:txBody>
          <a:bodyPr/>
          <a:lstStyle/>
          <a:p>
            <a:r>
              <a:rPr lang="en-US" dirty="0"/>
              <a:t>Variables (from simulated logic): </a:t>
            </a:r>
          </a:p>
          <a:p>
            <a:pPr marL="0" indent="0">
              <a:buNone/>
            </a:pPr>
            <a:r>
              <a:rPr lang="en-US" dirty="0"/>
              <a:t>	• </a:t>
            </a:r>
            <a:r>
              <a:rPr lang="en-US" dirty="0" err="1"/>
              <a:t>outdated_plugins</a:t>
            </a:r>
            <a:r>
              <a:rPr lang="en-US" dirty="0"/>
              <a:t> 	</a:t>
            </a:r>
          </a:p>
          <a:p>
            <a:pPr marL="0" indent="0">
              <a:buNone/>
            </a:pPr>
            <a:r>
              <a:rPr lang="en-US" dirty="0"/>
              <a:t>	• critical vulnerabilities </a:t>
            </a:r>
          </a:p>
          <a:p>
            <a:pPr marL="0" indent="0">
              <a:buNone/>
            </a:pPr>
            <a:r>
              <a:rPr lang="en-US" dirty="0"/>
              <a:t>	• admin users </a:t>
            </a:r>
          </a:p>
          <a:p>
            <a:pPr marL="0" indent="0">
              <a:buNone/>
            </a:pPr>
            <a:r>
              <a:rPr lang="en-US" dirty="0"/>
              <a:t>	• missing authentication </a:t>
            </a:r>
          </a:p>
          <a:p>
            <a:pPr marL="0" indent="0">
              <a:buNone/>
            </a:pPr>
            <a:r>
              <a:rPr lang="en-US" dirty="0"/>
              <a:t>Security Score formula: score = 100 - penalties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A705A-B325-FE98-21AA-1C8432A1EB15}"/>
              </a:ext>
            </a:extLst>
          </p:cNvPr>
          <p:cNvSpPr txBox="1"/>
          <p:nvPr/>
        </p:nvSpPr>
        <p:spPr>
          <a:xfrm>
            <a:off x="1206550" y="3781876"/>
            <a:ext cx="50341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Final Score Computation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843E97-C5D5-B37B-E2F9-74207915F1CF}"/>
              </a:ext>
            </a:extLst>
          </p:cNvPr>
          <p:cNvSpPr txBox="1"/>
          <p:nvPr/>
        </p:nvSpPr>
        <p:spPr>
          <a:xfrm>
            <a:off x="1035715" y="4514135"/>
            <a:ext cx="73020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Final Score Formula:</a:t>
            </a:r>
            <a:br>
              <a:rPr lang="en-US" dirty="0"/>
            </a:br>
            <a:r>
              <a:rPr lang="en-US" dirty="0"/>
              <a:t>Final Score = (Health Score × 0.6) + (Security Score × 0.4)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Sample Output:</a:t>
            </a:r>
            <a:br>
              <a:rPr lang="en-US" dirty="0"/>
            </a:br>
            <a:r>
              <a:rPr lang="en-US" dirty="0"/>
              <a:t>Health: 46.0</a:t>
            </a:r>
            <a:br>
              <a:rPr lang="en-US" dirty="0"/>
            </a:br>
            <a:r>
              <a:rPr lang="en-US" dirty="0"/>
              <a:t>Security: 60.0</a:t>
            </a:r>
            <a:br>
              <a:rPr lang="en-US" dirty="0"/>
            </a:br>
            <a:r>
              <a:rPr lang="en-US" dirty="0"/>
              <a:t>Final: 51.6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BE9667-9BFA-EF41-85ED-06125649D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392" y="1157748"/>
            <a:ext cx="4325286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138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B7921-4044-4675-6AB0-1ED574D0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854" y="662227"/>
            <a:ext cx="8911687" cy="1280890"/>
          </a:xfrm>
        </p:spPr>
        <p:txBody>
          <a:bodyPr/>
          <a:lstStyle/>
          <a:p>
            <a:r>
              <a:rPr lang="en-IN" b="1" dirty="0"/>
              <a:t>Visualization Output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5F12BA5-C67B-02D7-BA34-FF7F9433AD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720604"/>
              </p:ext>
            </p:extLst>
          </p:nvPr>
        </p:nvGraphicFramePr>
        <p:xfrm>
          <a:off x="1841962" y="1678859"/>
          <a:ext cx="8915400" cy="377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A0FDBC-C00E-75E2-EE78-F927FDDEADC4}"/>
              </a:ext>
            </a:extLst>
          </p:cNvPr>
          <p:cNvSpPr txBox="1"/>
          <p:nvPr/>
        </p:nvSpPr>
        <p:spPr>
          <a:xfrm>
            <a:off x="3234812" y="3244334"/>
            <a:ext cx="72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46.0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0914A2-1DF6-F7A3-8780-6D1525910DF9}"/>
              </a:ext>
            </a:extLst>
          </p:cNvPr>
          <p:cNvSpPr txBox="1"/>
          <p:nvPr/>
        </p:nvSpPr>
        <p:spPr>
          <a:xfrm>
            <a:off x="4837470" y="2875002"/>
            <a:ext cx="681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60.0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3863C5-0AB4-3136-2169-823E977DE4C7}"/>
              </a:ext>
            </a:extLst>
          </p:cNvPr>
          <p:cNvSpPr txBox="1"/>
          <p:nvPr/>
        </p:nvSpPr>
        <p:spPr>
          <a:xfrm>
            <a:off x="6400801" y="3013986"/>
            <a:ext cx="681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51.1</a:t>
            </a:r>
          </a:p>
        </p:txBody>
      </p:sp>
    </p:spTree>
    <p:extLst>
      <p:ext uri="{BB962C8B-B14F-4D97-AF65-F5344CB8AC3E}">
        <p14:creationId xmlns:p14="http://schemas.microsoft.com/office/powerpoint/2010/main" val="2734950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56B8-05F3-37F9-02FD-955A46980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 &amp; 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B41072-37EF-BAD5-D128-384B5DFD4F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7161612" y="2590561"/>
            <a:ext cx="4793452" cy="402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2BC0D-2638-2F03-66C0-682719FE3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4" y="1540189"/>
            <a:ext cx="8915400" cy="3777622"/>
          </a:xfrm>
        </p:spPr>
        <p:txBody>
          <a:bodyPr>
            <a:normAutofit/>
          </a:bodyPr>
          <a:lstStyle/>
          <a:p>
            <a:pPr lvl="3">
              <a:buFont typeface="Wingdings" panose="05000000000000000000" pitchFamily="2" charset="2"/>
              <a:buChar char="q"/>
            </a:pPr>
            <a:r>
              <a:rPr lang="en-IN" sz="1600" dirty="0"/>
              <a:t>Jenkins has moderate health 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 sz="1600" dirty="0"/>
              <a:t>Memory usage is high → decreasing score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IN" sz="1600" dirty="0"/>
              <a:t>Build failures impacting stability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 sz="1600" dirty="0"/>
              <a:t>Security risks due to outdated plugins/admin users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 sz="1600" dirty="0"/>
              <a:t>Grafana dashboards show real-time state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IN" sz="1600" dirty="0"/>
              <a:t>Python scoring model provides data-driven assessment</a:t>
            </a:r>
          </a:p>
        </p:txBody>
      </p:sp>
    </p:spTree>
    <p:extLst>
      <p:ext uri="{BB962C8B-B14F-4D97-AF65-F5344CB8AC3E}">
        <p14:creationId xmlns:p14="http://schemas.microsoft.com/office/powerpoint/2010/main" val="2711615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9AFF043-A9AC-148E-3ED5-CDA97C39B6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14762"/>
            <a:ext cx="12192000" cy="68284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7B7BB-A089-4196-643E-837147BEA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2523" y="1011710"/>
            <a:ext cx="3992732" cy="576262"/>
          </a:xfrm>
        </p:spPr>
        <p:txBody>
          <a:bodyPr/>
          <a:lstStyle/>
          <a:p>
            <a:r>
              <a:rPr lang="en-IN" b="1" dirty="0"/>
              <a:t>Future Enhancements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B7913-BD2E-AD0C-7F9B-3B05ACB03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3322" y="1743966"/>
            <a:ext cx="4342893" cy="3354060"/>
          </a:xfrm>
        </p:spPr>
        <p:txBody>
          <a:bodyPr/>
          <a:lstStyle/>
          <a:p>
            <a:r>
              <a:rPr lang="en-US" dirty="0"/>
              <a:t>Add Slack / email alerting based on low scores</a:t>
            </a:r>
          </a:p>
          <a:p>
            <a:r>
              <a:rPr lang="en-IN" dirty="0"/>
              <a:t>Make dashboard interactive </a:t>
            </a:r>
          </a:p>
          <a:p>
            <a:r>
              <a:rPr lang="en-US" dirty="0"/>
              <a:t>Containerize the whole pipeline (Docker + Docker Compose)</a:t>
            </a:r>
          </a:p>
          <a:p>
            <a:r>
              <a:rPr lang="en-IN" dirty="0"/>
              <a:t>Add ML-based anomaly detection</a:t>
            </a:r>
          </a:p>
          <a:p>
            <a:r>
              <a:rPr lang="en-US" dirty="0"/>
              <a:t>Store scoring history in database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8D5310-610E-ED13-B368-2313BAE61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992552"/>
            <a:ext cx="3999001" cy="576262"/>
          </a:xfrm>
        </p:spPr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A6AED-45FD-9E15-0C44-7B3384C4A3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40972" y="1751970"/>
            <a:ext cx="6666271" cy="3354060"/>
          </a:xfrm>
        </p:spPr>
        <p:txBody>
          <a:bodyPr/>
          <a:lstStyle/>
          <a:p>
            <a:r>
              <a:rPr lang="en-US" dirty="0"/>
              <a:t>Successfully built Jenkins Health Analysis System</a:t>
            </a:r>
          </a:p>
          <a:p>
            <a:r>
              <a:rPr lang="en-IN" dirty="0"/>
              <a:t>Integrated Jenkins → Prometheus → Grafana → Python</a:t>
            </a:r>
          </a:p>
          <a:p>
            <a:r>
              <a:rPr lang="en-US" dirty="0"/>
              <a:t>Automated scoring system works with real metrics</a:t>
            </a:r>
          </a:p>
          <a:p>
            <a:r>
              <a:rPr lang="en-US" dirty="0"/>
              <a:t>JSON &amp; visual outputs provide clear assessment</a:t>
            </a:r>
          </a:p>
          <a:p>
            <a:r>
              <a:rPr lang="en-US" dirty="0"/>
              <a:t>Useful for DevOps monitoring &amp; decision-making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152723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269</TotalTime>
  <Words>785</Words>
  <Application>Microsoft Office PowerPoint</Application>
  <PresentationFormat>Widescreen</PresentationFormat>
  <Paragraphs>127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Century Gothic</vt:lpstr>
      <vt:lpstr>Courier New</vt:lpstr>
      <vt:lpstr>Wingdings</vt:lpstr>
      <vt:lpstr>Wingdings 3</vt:lpstr>
      <vt:lpstr>Wisp</vt:lpstr>
      <vt:lpstr>Jenkins Health Monitoring, Metrics Collection &amp; Automated Scoring System</vt:lpstr>
      <vt:lpstr>Problem Statement </vt:lpstr>
      <vt:lpstr>Project Objectives </vt:lpstr>
      <vt:lpstr>Technology Stack</vt:lpstr>
      <vt:lpstr>System Architecture</vt:lpstr>
      <vt:lpstr>Jenkins Environment Setup </vt:lpstr>
      <vt:lpstr>Prometheus Integration</vt:lpstr>
      <vt:lpstr>Prometheus Metric Endpoints</vt:lpstr>
      <vt:lpstr>Grafana Dashboard</vt:lpstr>
      <vt:lpstr>Python-Based Metric Processing </vt:lpstr>
      <vt:lpstr>Health Metrics Computation</vt:lpstr>
      <vt:lpstr>Security Metrics Computation</vt:lpstr>
      <vt:lpstr>Visualization Output</vt:lpstr>
      <vt:lpstr>Results &amp; Insights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Swagnik ..</dc:creator>
  <cp:lastModifiedBy>Swagnik ..</cp:lastModifiedBy>
  <cp:revision>1</cp:revision>
  <dcterms:created xsi:type="dcterms:W3CDTF">2025-11-21T09:41:25Z</dcterms:created>
  <dcterms:modified xsi:type="dcterms:W3CDTF">2025-11-21T14:11:08Z</dcterms:modified>
</cp:coreProperties>
</file>